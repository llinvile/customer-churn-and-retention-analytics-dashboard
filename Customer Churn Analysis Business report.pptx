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9385E-8EDA-4478-B3AA-9FB2BC5F02B5}" v="12" dt="2026-02-24T16:47:44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6" autoAdjust="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linvile De Jongh" userId="cee9ca9eb184a042" providerId="LiveId" clId="{83804799-B9F7-4997-A6DC-CB389B1D8F46}"/>
    <pc:docChg chg="undo custSel modSld">
      <pc:chgData name="Llinvile De Jongh" userId="cee9ca9eb184a042" providerId="LiveId" clId="{83804799-B9F7-4997-A6DC-CB389B1D8F46}" dt="2026-02-24T16:54:42.571" v="229" actId="1037"/>
      <pc:docMkLst>
        <pc:docMk/>
      </pc:docMkLst>
      <pc:sldChg chg="modSp mod">
        <pc:chgData name="Llinvile De Jongh" userId="cee9ca9eb184a042" providerId="LiveId" clId="{83804799-B9F7-4997-A6DC-CB389B1D8F46}" dt="2026-02-24T16:34:06.626" v="12" actId="1076"/>
        <pc:sldMkLst>
          <pc:docMk/>
          <pc:sldMk cId="2422955845" sldId="256"/>
        </pc:sldMkLst>
        <pc:spChg chg="mod">
          <ac:chgData name="Llinvile De Jongh" userId="cee9ca9eb184a042" providerId="LiveId" clId="{83804799-B9F7-4997-A6DC-CB389B1D8F46}" dt="2026-02-24T16:34:00.507" v="11" actId="1076"/>
          <ac:spMkLst>
            <pc:docMk/>
            <pc:sldMk cId="2422955845" sldId="256"/>
            <ac:spMk id="2" creationId="{C432D5B8-2C6B-B10D-7D78-9752CC30DF10}"/>
          </ac:spMkLst>
        </pc:spChg>
        <pc:spChg chg="mod">
          <ac:chgData name="Llinvile De Jongh" userId="cee9ca9eb184a042" providerId="LiveId" clId="{83804799-B9F7-4997-A6DC-CB389B1D8F46}" dt="2026-02-24T16:34:06.626" v="12" actId="1076"/>
          <ac:spMkLst>
            <pc:docMk/>
            <pc:sldMk cId="2422955845" sldId="256"/>
            <ac:spMk id="3" creationId="{230A6756-BE27-39D1-16A6-2D45854F94B5}"/>
          </ac:spMkLst>
        </pc:spChg>
      </pc:sldChg>
      <pc:sldChg chg="modSp mod">
        <pc:chgData name="Llinvile De Jongh" userId="cee9ca9eb184a042" providerId="LiveId" clId="{83804799-B9F7-4997-A6DC-CB389B1D8F46}" dt="2026-02-24T16:41:11.894" v="52" actId="1076"/>
        <pc:sldMkLst>
          <pc:docMk/>
          <pc:sldMk cId="2980692338" sldId="257"/>
        </pc:sldMkLst>
        <pc:spChg chg="mod">
          <ac:chgData name="Llinvile De Jongh" userId="cee9ca9eb184a042" providerId="LiveId" clId="{83804799-B9F7-4997-A6DC-CB389B1D8F46}" dt="2026-02-24T16:41:11.894" v="52" actId="1076"/>
          <ac:spMkLst>
            <pc:docMk/>
            <pc:sldMk cId="2980692338" sldId="257"/>
            <ac:spMk id="2" creationId="{0A661F49-A54E-9700-1C0F-2BDA8D3C831C}"/>
          </ac:spMkLst>
        </pc:spChg>
        <pc:spChg chg="mod">
          <ac:chgData name="Llinvile De Jongh" userId="cee9ca9eb184a042" providerId="LiveId" clId="{83804799-B9F7-4997-A6DC-CB389B1D8F46}" dt="2026-02-24T16:41:02.697" v="50" actId="1076"/>
          <ac:spMkLst>
            <pc:docMk/>
            <pc:sldMk cId="2980692338" sldId="257"/>
            <ac:spMk id="3" creationId="{A2A98C29-95F2-BFD4-09F7-2F41426C3E7A}"/>
          </ac:spMkLst>
        </pc:spChg>
      </pc:sldChg>
      <pc:sldChg chg="modSp mod">
        <pc:chgData name="Llinvile De Jongh" userId="cee9ca9eb184a042" providerId="LiveId" clId="{83804799-B9F7-4997-A6DC-CB389B1D8F46}" dt="2026-02-24T16:40:45.940" v="48" actId="1076"/>
        <pc:sldMkLst>
          <pc:docMk/>
          <pc:sldMk cId="2063293725" sldId="258"/>
        </pc:sldMkLst>
        <pc:spChg chg="mod">
          <ac:chgData name="Llinvile De Jongh" userId="cee9ca9eb184a042" providerId="LiveId" clId="{83804799-B9F7-4997-A6DC-CB389B1D8F46}" dt="2026-02-24T16:40:45.940" v="48" actId="1076"/>
          <ac:spMkLst>
            <pc:docMk/>
            <pc:sldMk cId="2063293725" sldId="258"/>
            <ac:spMk id="2" creationId="{79F60702-5C82-A7B8-AFEC-95916BBC8DFD}"/>
          </ac:spMkLst>
        </pc:spChg>
        <pc:spChg chg="mod">
          <ac:chgData name="Llinvile De Jongh" userId="cee9ca9eb184a042" providerId="LiveId" clId="{83804799-B9F7-4997-A6DC-CB389B1D8F46}" dt="2026-02-24T16:40:41.306" v="47" actId="1076"/>
          <ac:spMkLst>
            <pc:docMk/>
            <pc:sldMk cId="2063293725" sldId="258"/>
            <ac:spMk id="3" creationId="{4B53BF57-B112-7A68-3130-73E595C6BF1C}"/>
          </ac:spMkLst>
        </pc:spChg>
      </pc:sldChg>
      <pc:sldChg chg="modSp mod">
        <pc:chgData name="Llinvile De Jongh" userId="cee9ca9eb184a042" providerId="LiveId" clId="{83804799-B9F7-4997-A6DC-CB389B1D8F46}" dt="2026-02-24T16:54:42.571" v="229" actId="1037"/>
        <pc:sldMkLst>
          <pc:docMk/>
          <pc:sldMk cId="3815068679" sldId="259"/>
        </pc:sldMkLst>
        <pc:spChg chg="mod">
          <ac:chgData name="Llinvile De Jongh" userId="cee9ca9eb184a042" providerId="LiveId" clId="{83804799-B9F7-4997-A6DC-CB389B1D8F46}" dt="2026-02-24T16:54:42.571" v="229" actId="1037"/>
          <ac:spMkLst>
            <pc:docMk/>
            <pc:sldMk cId="3815068679" sldId="259"/>
            <ac:spMk id="2" creationId="{AF0F8DEF-D33C-D80E-A564-13DBC67D2AB9}"/>
          </ac:spMkLst>
        </pc:spChg>
        <pc:spChg chg="mod">
          <ac:chgData name="Llinvile De Jongh" userId="cee9ca9eb184a042" providerId="LiveId" clId="{83804799-B9F7-4997-A6DC-CB389B1D8F46}" dt="2026-02-24T16:51:16.683" v="157" actId="1038"/>
          <ac:spMkLst>
            <pc:docMk/>
            <pc:sldMk cId="3815068679" sldId="259"/>
            <ac:spMk id="10" creationId="{7890F57C-68E7-979C-25E3-5EE98EAE914C}"/>
          </ac:spMkLst>
        </pc:spChg>
        <pc:spChg chg="mod">
          <ac:chgData name="Llinvile De Jongh" userId="cee9ca9eb184a042" providerId="LiveId" clId="{83804799-B9F7-4997-A6DC-CB389B1D8F46}" dt="2026-02-24T16:51:24.833" v="170" actId="1038"/>
          <ac:spMkLst>
            <pc:docMk/>
            <pc:sldMk cId="3815068679" sldId="259"/>
            <ac:spMk id="12" creationId="{2CACF524-51D2-BBED-8E85-186C247020C9}"/>
          </ac:spMkLst>
        </pc:spChg>
        <pc:spChg chg="mod">
          <ac:chgData name="Llinvile De Jongh" userId="cee9ca9eb184a042" providerId="LiveId" clId="{83804799-B9F7-4997-A6DC-CB389B1D8F46}" dt="2026-02-24T16:51:38.315" v="189" actId="1037"/>
          <ac:spMkLst>
            <pc:docMk/>
            <pc:sldMk cId="3815068679" sldId="259"/>
            <ac:spMk id="13" creationId="{688C0CD7-FCCA-32F8-F9D8-9F0F7AEFE595}"/>
          </ac:spMkLst>
        </pc:spChg>
        <pc:picChg chg="mod">
          <ac:chgData name="Llinvile De Jongh" userId="cee9ca9eb184a042" providerId="LiveId" clId="{83804799-B9F7-4997-A6DC-CB389B1D8F46}" dt="2026-02-24T16:51:50.351" v="191" actId="1076"/>
          <ac:picMkLst>
            <pc:docMk/>
            <pc:sldMk cId="3815068679" sldId="259"/>
            <ac:picMk id="7" creationId="{0132B98B-9865-8EF4-8BD5-7AF87B73D7CD}"/>
          </ac:picMkLst>
        </pc:picChg>
        <pc:picChg chg="mod">
          <ac:chgData name="Llinvile De Jongh" userId="cee9ca9eb184a042" providerId="LiveId" clId="{83804799-B9F7-4997-A6DC-CB389B1D8F46}" dt="2026-02-24T16:51:46.175" v="190" actId="1076"/>
          <ac:picMkLst>
            <pc:docMk/>
            <pc:sldMk cId="3815068679" sldId="259"/>
            <ac:picMk id="8" creationId="{70CD5B60-0C43-8245-DFC8-8046DF4AD9FB}"/>
          </ac:picMkLst>
        </pc:picChg>
        <pc:picChg chg="mod">
          <ac:chgData name="Llinvile De Jongh" userId="cee9ca9eb184a042" providerId="LiveId" clId="{83804799-B9F7-4997-A6DC-CB389B1D8F46}" dt="2026-02-24T16:52:16.736" v="194" actId="1076"/>
          <ac:picMkLst>
            <pc:docMk/>
            <pc:sldMk cId="3815068679" sldId="259"/>
            <ac:picMk id="9" creationId="{CE8B5202-CD82-ED07-1C33-B573473223B3}"/>
          </ac:picMkLst>
        </pc:picChg>
      </pc:sldChg>
      <pc:sldChg chg="modSp mod">
        <pc:chgData name="Llinvile De Jongh" userId="cee9ca9eb184a042" providerId="LiveId" clId="{83804799-B9F7-4997-A6DC-CB389B1D8F46}" dt="2026-02-24T16:50:58.676" v="146" actId="255"/>
        <pc:sldMkLst>
          <pc:docMk/>
          <pc:sldMk cId="1833407058" sldId="260"/>
        </pc:sldMkLst>
        <pc:spChg chg="mod">
          <ac:chgData name="Llinvile De Jongh" userId="cee9ca9eb184a042" providerId="LiveId" clId="{83804799-B9F7-4997-A6DC-CB389B1D8F46}" dt="2026-02-24T16:48:14.228" v="86" actId="1076"/>
          <ac:spMkLst>
            <pc:docMk/>
            <pc:sldMk cId="1833407058" sldId="260"/>
            <ac:spMk id="2" creationId="{1CD27160-5D7A-3C73-078B-FDE568054743}"/>
          </ac:spMkLst>
        </pc:spChg>
        <pc:spChg chg="mod">
          <ac:chgData name="Llinvile De Jongh" userId="cee9ca9eb184a042" providerId="LiveId" clId="{83804799-B9F7-4997-A6DC-CB389B1D8F46}" dt="2026-02-24T16:48:35.218" v="89" actId="122"/>
          <ac:spMkLst>
            <pc:docMk/>
            <pc:sldMk cId="1833407058" sldId="260"/>
            <ac:spMk id="8" creationId="{9DB74707-14EA-0CFE-3AA7-0E7995937924}"/>
          </ac:spMkLst>
        </pc:spChg>
        <pc:spChg chg="mod">
          <ac:chgData name="Llinvile De Jongh" userId="cee9ca9eb184a042" providerId="LiveId" clId="{83804799-B9F7-4997-A6DC-CB389B1D8F46}" dt="2026-02-24T16:48:55.175" v="98" actId="1076"/>
          <ac:spMkLst>
            <pc:docMk/>
            <pc:sldMk cId="1833407058" sldId="260"/>
            <ac:spMk id="9" creationId="{B969682E-E8D5-91B7-C11F-CE1A0BBB201E}"/>
          </ac:spMkLst>
        </pc:spChg>
        <pc:spChg chg="mod">
          <ac:chgData name="Llinvile De Jongh" userId="cee9ca9eb184a042" providerId="LiveId" clId="{83804799-B9F7-4997-A6DC-CB389B1D8F46}" dt="2026-02-24T16:50:16.067" v="135" actId="1038"/>
          <ac:spMkLst>
            <pc:docMk/>
            <pc:sldMk cId="1833407058" sldId="260"/>
            <ac:spMk id="10" creationId="{9EE332D2-45A3-BBBC-CF89-33D940E1C618}"/>
          </ac:spMkLst>
        </pc:spChg>
        <pc:spChg chg="mod">
          <ac:chgData name="Llinvile De Jongh" userId="cee9ca9eb184a042" providerId="LiveId" clId="{83804799-B9F7-4997-A6DC-CB389B1D8F46}" dt="2026-02-24T16:50:33.889" v="140" actId="1037"/>
          <ac:spMkLst>
            <pc:docMk/>
            <pc:sldMk cId="1833407058" sldId="260"/>
            <ac:spMk id="11" creationId="{843E1EDB-E65C-B91A-A922-E2F7F2B67321}"/>
          </ac:spMkLst>
        </pc:spChg>
        <pc:spChg chg="mod">
          <ac:chgData name="Llinvile De Jongh" userId="cee9ca9eb184a042" providerId="LiveId" clId="{83804799-B9F7-4997-A6DC-CB389B1D8F46}" dt="2026-02-24T16:50:58.676" v="146" actId="255"/>
          <ac:spMkLst>
            <pc:docMk/>
            <pc:sldMk cId="1833407058" sldId="260"/>
            <ac:spMk id="12" creationId="{BAD889A0-FAF9-15E2-C35E-180D3B18B2D0}"/>
          </ac:spMkLst>
        </pc:spChg>
        <pc:picChg chg="mod">
          <ac:chgData name="Llinvile De Jongh" userId="cee9ca9eb184a042" providerId="LiveId" clId="{83804799-B9F7-4997-A6DC-CB389B1D8F46}" dt="2026-02-24T16:49:17.658" v="101" actId="14100"/>
          <ac:picMkLst>
            <pc:docMk/>
            <pc:sldMk cId="1833407058" sldId="260"/>
            <ac:picMk id="4" creationId="{34709D33-CCA7-5B7E-7706-433504862291}"/>
          </ac:picMkLst>
        </pc:picChg>
        <pc:picChg chg="mod">
          <ac:chgData name="Llinvile De Jongh" userId="cee9ca9eb184a042" providerId="LiveId" clId="{83804799-B9F7-4997-A6DC-CB389B1D8F46}" dt="2026-02-24T16:49:03.426" v="99" actId="1076"/>
          <ac:picMkLst>
            <pc:docMk/>
            <pc:sldMk cId="1833407058" sldId="260"/>
            <ac:picMk id="5" creationId="{6BD8353E-B32B-E8D1-00EB-2C2725302C20}"/>
          </ac:picMkLst>
        </pc:picChg>
        <pc:picChg chg="mod">
          <ac:chgData name="Llinvile De Jongh" userId="cee9ca9eb184a042" providerId="LiveId" clId="{83804799-B9F7-4997-A6DC-CB389B1D8F46}" dt="2026-02-24T16:50:04.170" v="108" actId="14100"/>
          <ac:picMkLst>
            <pc:docMk/>
            <pc:sldMk cId="1833407058" sldId="260"/>
            <ac:picMk id="6" creationId="{97C30257-D1C9-9D00-4B02-2EC25B3CF5E5}"/>
          </ac:picMkLst>
        </pc:picChg>
        <pc:picChg chg="mod">
          <ac:chgData name="Llinvile De Jongh" userId="cee9ca9eb184a042" providerId="LiveId" clId="{83804799-B9F7-4997-A6DC-CB389B1D8F46}" dt="2026-02-24T16:50:39.694" v="144" actId="1037"/>
          <ac:picMkLst>
            <pc:docMk/>
            <pc:sldMk cId="1833407058" sldId="260"/>
            <ac:picMk id="7" creationId="{CAD4AFB3-52B2-B62D-CD42-4246C4B37E44}"/>
          </ac:picMkLst>
        </pc:picChg>
      </pc:sldChg>
      <pc:sldChg chg="modSp mod setBg">
        <pc:chgData name="Llinvile De Jongh" userId="cee9ca9eb184a042" providerId="LiveId" clId="{83804799-B9F7-4997-A6DC-CB389B1D8F46}" dt="2026-02-24T16:47:26.380" v="83" actId="255"/>
        <pc:sldMkLst>
          <pc:docMk/>
          <pc:sldMk cId="1658463345" sldId="261"/>
        </pc:sldMkLst>
        <pc:spChg chg="mod">
          <ac:chgData name="Llinvile De Jongh" userId="cee9ca9eb184a042" providerId="LiveId" clId="{83804799-B9F7-4997-A6DC-CB389B1D8F46}" dt="2026-02-24T16:45:43.032" v="67" actId="1076"/>
          <ac:spMkLst>
            <pc:docMk/>
            <pc:sldMk cId="1658463345" sldId="261"/>
            <ac:spMk id="2" creationId="{C2F0BCE5-4F2A-2F77-8D0A-CC613AD01284}"/>
          </ac:spMkLst>
        </pc:spChg>
        <pc:spChg chg="mod">
          <ac:chgData name="Llinvile De Jongh" userId="cee9ca9eb184a042" providerId="LiveId" clId="{83804799-B9F7-4997-A6DC-CB389B1D8F46}" dt="2026-02-24T16:47:26.380" v="83" actId="255"/>
          <ac:spMkLst>
            <pc:docMk/>
            <pc:sldMk cId="1658463345" sldId="261"/>
            <ac:spMk id="5" creationId="{FC477A5D-3D4C-8472-8EF9-9BF6DF891110}"/>
          </ac:spMkLst>
        </pc:spChg>
        <pc:spChg chg="mod">
          <ac:chgData name="Llinvile De Jongh" userId="cee9ca9eb184a042" providerId="LiveId" clId="{83804799-B9F7-4997-A6DC-CB389B1D8F46}" dt="2026-02-24T16:45:56.727" v="69" actId="1076"/>
          <ac:spMkLst>
            <pc:docMk/>
            <pc:sldMk cId="1658463345" sldId="261"/>
            <ac:spMk id="6" creationId="{D5E06F18-001A-D063-30E7-7B149F8555E1}"/>
          </ac:spMkLst>
        </pc:spChg>
        <pc:spChg chg="mod">
          <ac:chgData name="Llinvile De Jongh" userId="cee9ca9eb184a042" providerId="LiveId" clId="{83804799-B9F7-4997-A6DC-CB389B1D8F46}" dt="2026-02-24T16:46:22.598" v="74" actId="1076"/>
          <ac:spMkLst>
            <pc:docMk/>
            <pc:sldMk cId="1658463345" sldId="261"/>
            <ac:spMk id="7" creationId="{FCC2ABE3-E4EE-AC79-8F1D-0C75E541F717}"/>
          </ac:spMkLst>
        </pc:spChg>
        <pc:graphicFrameChg chg="mod modGraphic">
          <ac:chgData name="Llinvile De Jongh" userId="cee9ca9eb184a042" providerId="LiveId" clId="{83804799-B9F7-4997-A6DC-CB389B1D8F46}" dt="2026-02-24T16:46:54.186" v="81" actId="1076"/>
          <ac:graphicFrameMkLst>
            <pc:docMk/>
            <pc:sldMk cId="1658463345" sldId="261"/>
            <ac:graphicFrameMk id="4" creationId="{D177638B-96F4-3793-46C6-CD43EF94AEE6}"/>
          </ac:graphicFrameMkLst>
        </pc:graphicFrameChg>
      </pc:sldChg>
      <pc:sldChg chg="modSp mod">
        <pc:chgData name="Llinvile De Jongh" userId="cee9ca9eb184a042" providerId="LiveId" clId="{83804799-B9F7-4997-A6DC-CB389B1D8F46}" dt="2026-02-24T16:52:47.027" v="197" actId="1076"/>
        <pc:sldMkLst>
          <pc:docMk/>
          <pc:sldMk cId="2822184610" sldId="262"/>
        </pc:sldMkLst>
        <pc:spChg chg="mod">
          <ac:chgData name="Llinvile De Jongh" userId="cee9ca9eb184a042" providerId="LiveId" clId="{83804799-B9F7-4997-A6DC-CB389B1D8F46}" dt="2026-02-24T16:52:47.027" v="197" actId="1076"/>
          <ac:spMkLst>
            <pc:docMk/>
            <pc:sldMk cId="2822184610" sldId="262"/>
            <ac:spMk id="2" creationId="{45775283-7580-1D6D-A7A6-3F4D53C62B65}"/>
          </ac:spMkLst>
        </pc:spChg>
        <pc:spChg chg="mod">
          <ac:chgData name="Llinvile De Jongh" userId="cee9ca9eb184a042" providerId="LiveId" clId="{83804799-B9F7-4997-A6DC-CB389B1D8F46}" dt="2026-02-24T16:52:42.031" v="196" actId="1076"/>
          <ac:spMkLst>
            <pc:docMk/>
            <pc:sldMk cId="2822184610" sldId="262"/>
            <ac:spMk id="3" creationId="{66B4B98F-8A55-8C03-BD0F-7B38B074DD2B}"/>
          </ac:spMkLst>
        </pc:spChg>
      </pc:sldChg>
      <pc:sldChg chg="modSp mod">
        <pc:chgData name="Llinvile De Jongh" userId="cee9ca9eb184a042" providerId="LiveId" clId="{83804799-B9F7-4997-A6DC-CB389B1D8F46}" dt="2026-02-24T16:38:33.205" v="31" actId="14100"/>
        <pc:sldMkLst>
          <pc:docMk/>
          <pc:sldMk cId="1186253332" sldId="263"/>
        </pc:sldMkLst>
        <pc:spChg chg="mod">
          <ac:chgData name="Llinvile De Jongh" userId="cee9ca9eb184a042" providerId="LiveId" clId="{83804799-B9F7-4997-A6DC-CB389B1D8F46}" dt="2026-02-24T16:38:33.205" v="31" actId="14100"/>
          <ac:spMkLst>
            <pc:docMk/>
            <pc:sldMk cId="1186253332" sldId="263"/>
            <ac:spMk id="2" creationId="{E2E1D525-B1B8-2048-0856-ADFA1703B6B0}"/>
          </ac:spMkLst>
        </pc:spChg>
        <pc:spChg chg="mod">
          <ac:chgData name="Llinvile De Jongh" userId="cee9ca9eb184a042" providerId="LiveId" clId="{83804799-B9F7-4997-A6DC-CB389B1D8F46}" dt="2026-02-24T16:38:22.622" v="29" actId="1076"/>
          <ac:spMkLst>
            <pc:docMk/>
            <pc:sldMk cId="1186253332" sldId="263"/>
            <ac:spMk id="3" creationId="{CABF30D5-6F5D-FF09-81C5-2BC0195CBC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B6ED39-AAE1-962C-5DCC-BAFE2C71F8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99381-DA34-62E8-6DC4-294AEF1187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B5147-80AA-46CE-8933-451011D8D14E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75589-CB44-AC6D-D75B-810DCBC6FB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Data Source: Customer usage, billing, and engagement data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50D7D-2352-8B09-6CDB-1C2C718396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FB914-0A63-4E3A-840D-BBCBBAE3CD2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18547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E0883-A626-46A8-9D07-39565DA484A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Data Source: Customer usage, billing, and engagement data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0C269-03D3-4B34-AD85-32288D976A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426577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Data Source: Customer usage, billing, and engagement data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0C269-03D3-4B34-AD85-32288D976A2B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09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877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213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391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751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014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668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899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904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187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716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5168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3482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0425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6874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4349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427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948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FB0FDAF-31FC-4977-8334-0CA27F53F9CD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D21BB7-95D1-4DB3-B30B-588ABE2D8D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494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D5B8-2C6B-B10D-7D78-9752CC30D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9846" y="2080403"/>
            <a:ext cx="8824456" cy="1117687"/>
          </a:xfrm>
        </p:spPr>
        <p:txBody>
          <a:bodyPr/>
          <a:lstStyle/>
          <a:p>
            <a:r>
              <a:rPr lang="en-ZA" dirty="0"/>
              <a:t> </a:t>
            </a:r>
            <a:r>
              <a:rPr lang="en-ZA" sz="5400" dirty="0"/>
              <a:t>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A6756-BE27-39D1-16A6-2D45854F9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6657" y="3198090"/>
            <a:ext cx="6987645" cy="1388534"/>
          </a:xfrm>
        </p:spPr>
        <p:txBody>
          <a:bodyPr>
            <a:normAutofit/>
          </a:bodyPr>
          <a:lstStyle/>
          <a:p>
            <a:r>
              <a:rPr lang="en-GB" sz="2800" b="1" dirty="0"/>
              <a:t>Executive Insight Deck</a:t>
            </a:r>
            <a:br>
              <a:rPr lang="en-GB" sz="2800" dirty="0"/>
            </a:br>
            <a:r>
              <a:rPr lang="en-GB" sz="2800" i="1" dirty="0"/>
              <a:t>Prepared by: Llinvile de Jongh</a:t>
            </a:r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242295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1F49-A54E-9700-1C0F-2BDA8D3C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9" y="1551711"/>
            <a:ext cx="10018713" cy="1752599"/>
          </a:xfrm>
        </p:spPr>
        <p:txBody>
          <a:bodyPr>
            <a:normAutofit/>
          </a:bodyPr>
          <a:lstStyle/>
          <a:p>
            <a:r>
              <a:rPr lang="en-ZA" dirty="0"/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98C29-95F2-BFD4-09F7-2F41426C3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510" y="3079172"/>
            <a:ext cx="10018713" cy="31242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200" dirty="0"/>
              <a:t>The purpose of this analysis is to:</a:t>
            </a:r>
          </a:p>
          <a:p>
            <a:r>
              <a:rPr lang="en-GB" sz="2200" dirty="0"/>
              <a:t>Identify </a:t>
            </a:r>
            <a:r>
              <a:rPr lang="en-GB" sz="2200" b="1" dirty="0"/>
              <a:t>key customer behaviours that lead to churn</a:t>
            </a:r>
            <a:endParaRPr lang="en-GB" sz="2200" dirty="0"/>
          </a:p>
          <a:p>
            <a:r>
              <a:rPr lang="en-GB" sz="2200" dirty="0"/>
              <a:t>Understand </a:t>
            </a:r>
            <a:r>
              <a:rPr lang="en-GB" sz="2200" b="1" dirty="0"/>
              <a:t>which usage and revenue patterns signal early churn risk</a:t>
            </a:r>
            <a:endParaRPr lang="en-GB" sz="2200" dirty="0"/>
          </a:p>
          <a:p>
            <a:r>
              <a:rPr lang="en-GB" sz="2200" dirty="0"/>
              <a:t>Provide </a:t>
            </a:r>
            <a:r>
              <a:rPr lang="en-GB" sz="2200" b="1" dirty="0"/>
              <a:t>actionable insights</a:t>
            </a:r>
            <a:r>
              <a:rPr lang="en-GB" sz="2200" dirty="0"/>
              <a:t> to reduce churn and protect revenue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200" b="1" dirty="0"/>
              <a:t>Business Question Answered:</a:t>
            </a:r>
            <a:endParaRPr lang="en-GB" sz="2200" dirty="0"/>
          </a:p>
          <a:p>
            <a:pPr marL="0" indent="0">
              <a:buNone/>
            </a:pPr>
            <a:r>
              <a:rPr lang="en-GB" sz="2200" i="1" dirty="0"/>
              <a:t>Which customer behaviours should the business act on early to prevent customer loss?</a:t>
            </a:r>
            <a:endParaRPr lang="en-GB" sz="2200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8069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0702-5C82-A7B8-AFEC-95916BBC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037" y="1496291"/>
            <a:ext cx="10018713" cy="1752599"/>
          </a:xfrm>
        </p:spPr>
        <p:txBody>
          <a:bodyPr/>
          <a:lstStyle/>
          <a:p>
            <a:r>
              <a:rPr lang="en-GB" dirty="0"/>
              <a:t>Key Insights (What the Data Revealed)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BF57-B112-7A68-3130-73E595C6B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0828" y="3248890"/>
            <a:ext cx="10018713" cy="312420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6400" b="1" dirty="0"/>
              <a:t>Usage is the strongest churn signal</a:t>
            </a:r>
          </a:p>
          <a:p>
            <a:r>
              <a:rPr lang="en-GB" sz="6400" dirty="0"/>
              <a:t>Customers who churn consistently show </a:t>
            </a:r>
            <a:r>
              <a:rPr lang="en-GB" sz="6400" b="1" dirty="0"/>
              <a:t>lower call minutes and call volumes</a:t>
            </a:r>
            <a:endParaRPr lang="en-GB" sz="6400" dirty="0"/>
          </a:p>
          <a:p>
            <a:r>
              <a:rPr lang="en-GB" sz="6400" dirty="0"/>
              <a:t>Declining usage is an </a:t>
            </a:r>
            <a:r>
              <a:rPr lang="en-GB" sz="6400" b="1" dirty="0"/>
              <a:t>early warning indicator</a:t>
            </a:r>
            <a:r>
              <a:rPr lang="en-GB" sz="6400" dirty="0"/>
              <a:t>, not a last-minute signal</a:t>
            </a:r>
          </a:p>
          <a:p>
            <a:pPr marL="0" indent="0">
              <a:buNone/>
            </a:pPr>
            <a:endParaRPr lang="en-GB" sz="6400" dirty="0"/>
          </a:p>
          <a:p>
            <a:pPr marL="0" indent="0">
              <a:buNone/>
            </a:pPr>
            <a:r>
              <a:rPr lang="en-GB" sz="6400" b="1" dirty="0"/>
              <a:t>Low-value customers churn more frequently</a:t>
            </a:r>
          </a:p>
          <a:p>
            <a:r>
              <a:rPr lang="en-GB" sz="6400" dirty="0"/>
              <a:t>Churned customers generate </a:t>
            </a:r>
            <a:r>
              <a:rPr lang="en-GB" sz="6400" b="1" dirty="0"/>
              <a:t>significantly lower charges</a:t>
            </a:r>
            <a:endParaRPr lang="en-GB" sz="6400" dirty="0"/>
          </a:p>
          <a:p>
            <a:r>
              <a:rPr lang="en-GB" sz="6400" dirty="0"/>
              <a:t>Lower spend reflects </a:t>
            </a:r>
            <a:r>
              <a:rPr lang="en-GB" sz="6400" b="1" dirty="0"/>
              <a:t>lower perceived value and engagement</a:t>
            </a:r>
          </a:p>
          <a:p>
            <a:pPr marL="0" indent="0">
              <a:buNone/>
            </a:pPr>
            <a:endParaRPr lang="en-GB" sz="6400" dirty="0"/>
          </a:p>
          <a:p>
            <a:pPr marL="0" indent="0">
              <a:buNone/>
            </a:pPr>
            <a:r>
              <a:rPr lang="en-GB" sz="6400" b="1" dirty="0"/>
              <a:t>Engagement drives loyalty</a:t>
            </a:r>
          </a:p>
          <a:p>
            <a:r>
              <a:rPr lang="en-GB" sz="6400" dirty="0"/>
              <a:t>Customers with </a:t>
            </a:r>
            <a:r>
              <a:rPr lang="en-GB" sz="6400" b="1" dirty="0"/>
              <a:t>international usage and feature adoption</a:t>
            </a:r>
            <a:r>
              <a:rPr lang="en-GB" sz="6400" dirty="0"/>
              <a:t> are more likely to stay</a:t>
            </a:r>
          </a:p>
          <a:p>
            <a:r>
              <a:rPr lang="en-GB" sz="6400" dirty="0"/>
              <a:t>Engagement breadth matters more than raw call frequency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329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8DEF-D33C-D80E-A564-13DBC67D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7603" y="72399"/>
            <a:ext cx="9050379" cy="817030"/>
          </a:xfrm>
        </p:spPr>
        <p:txBody>
          <a:bodyPr>
            <a:normAutofit/>
          </a:bodyPr>
          <a:lstStyle/>
          <a:p>
            <a:r>
              <a:rPr lang="en-GB" sz="3600" dirty="0"/>
              <a:t>Visual Insight: Usage vs Churn</a:t>
            </a:r>
            <a:endParaRPr lang="en-ZA" sz="3600" dirty="0"/>
          </a:p>
        </p:txBody>
      </p:sp>
      <p:pic>
        <p:nvPicPr>
          <p:cNvPr id="6" name="Content Placeholder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623AA814-6376-3CC2-B05D-8BE8C164A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1911" r="2439"/>
          <a:stretch>
            <a:fillRect/>
          </a:stretch>
        </p:blipFill>
        <p:spPr bwMode="auto">
          <a:xfrm>
            <a:off x="804210" y="1419615"/>
            <a:ext cx="2701157" cy="17895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0132B98B-9865-8EF4-8BD5-7AF87B73D7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165"/>
          <a:stretch>
            <a:fillRect/>
          </a:stretch>
        </p:blipFill>
        <p:spPr bwMode="auto">
          <a:xfrm>
            <a:off x="8350250" y="1428868"/>
            <a:ext cx="2787015" cy="17710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70CD5B60-0C43-8245-DFC8-8046DF4AD9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174"/>
          <a:stretch>
            <a:fillRect/>
          </a:stretch>
        </p:blipFill>
        <p:spPr bwMode="auto">
          <a:xfrm>
            <a:off x="4428661" y="1445743"/>
            <a:ext cx="2834452" cy="1763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CE8B5202-CD82-ED07-1C33-B573473223B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188"/>
          <a:stretch>
            <a:fillRect/>
          </a:stretch>
        </p:blipFill>
        <p:spPr bwMode="auto">
          <a:xfrm>
            <a:off x="8350250" y="4216246"/>
            <a:ext cx="2878849" cy="1763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90F57C-68E7-979C-25E3-5EE98EAE914C}"/>
              </a:ext>
            </a:extLst>
          </p:cNvPr>
          <p:cNvSpPr txBox="1"/>
          <p:nvPr/>
        </p:nvSpPr>
        <p:spPr>
          <a:xfrm>
            <a:off x="788062" y="948402"/>
            <a:ext cx="30086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Churn by Daily Minutes</a:t>
            </a:r>
            <a:endParaRPr lang="en-ZA" sz="2000" b="1" dirty="0"/>
          </a:p>
          <a:p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B5F0E-CE62-E99A-7EBB-300AACCE3181}"/>
              </a:ext>
            </a:extLst>
          </p:cNvPr>
          <p:cNvSpPr txBox="1"/>
          <p:nvPr/>
        </p:nvSpPr>
        <p:spPr>
          <a:xfrm>
            <a:off x="4309290" y="948402"/>
            <a:ext cx="34090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Churn by Evening Minutes</a:t>
            </a:r>
            <a:endParaRPr lang="en-ZA" sz="2000" b="1" dirty="0"/>
          </a:p>
          <a:p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CF524-51D2-BBED-8E85-186C247020C9}"/>
              </a:ext>
            </a:extLst>
          </p:cNvPr>
          <p:cNvSpPr txBox="1"/>
          <p:nvPr/>
        </p:nvSpPr>
        <p:spPr>
          <a:xfrm>
            <a:off x="8364115" y="948402"/>
            <a:ext cx="3008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Churn by Night Minutes</a:t>
            </a:r>
            <a:endParaRPr lang="en-ZA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C0CD7-FCCA-32F8-F9D8-9F0F7AEFE595}"/>
              </a:ext>
            </a:extLst>
          </p:cNvPr>
          <p:cNvSpPr txBox="1"/>
          <p:nvPr/>
        </p:nvSpPr>
        <p:spPr>
          <a:xfrm>
            <a:off x="8056390" y="3667371"/>
            <a:ext cx="4059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Churn by International Minutes</a:t>
            </a:r>
            <a:endParaRPr lang="en-ZA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7FE98-8A8B-9D30-A57D-019EAEEEF53D}"/>
              </a:ext>
            </a:extLst>
          </p:cNvPr>
          <p:cNvSpPr txBox="1"/>
          <p:nvPr/>
        </p:nvSpPr>
        <p:spPr>
          <a:xfrm>
            <a:off x="694543" y="3648862"/>
            <a:ext cx="70237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Executive Interpretation</a:t>
            </a:r>
            <a:endParaRPr lang="en-GB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Non-churn customers consistently use the service </a:t>
            </a:r>
            <a:r>
              <a:rPr lang="en-GB" b="1" dirty="0"/>
              <a:t>more across all time periods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Churn is strongly linked to </a:t>
            </a:r>
            <a:r>
              <a:rPr lang="en-GB" b="1" dirty="0"/>
              <a:t>under-utilisation</a:t>
            </a:r>
            <a:r>
              <a:rPr lang="en-GB" dirty="0"/>
              <a:t>, not service overload</a:t>
            </a:r>
          </a:p>
          <a:p>
            <a:endParaRPr lang="en-GB" dirty="0"/>
          </a:p>
          <a:p>
            <a:r>
              <a:rPr lang="en-GB" b="1" u="sng" dirty="0"/>
              <a:t>Why This Matters</a:t>
            </a:r>
            <a:endParaRPr lang="en-GB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business can detect churn </a:t>
            </a:r>
            <a:r>
              <a:rPr lang="en-GB" b="1" dirty="0"/>
              <a:t>months earlier</a:t>
            </a:r>
            <a:r>
              <a:rPr lang="en-GB" dirty="0"/>
              <a:t> by monitoring usage decline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Retention strategies should trigger </a:t>
            </a:r>
            <a:r>
              <a:rPr lang="en-GB" b="1" dirty="0"/>
              <a:t>before usage reaches low levels</a:t>
            </a:r>
            <a:endParaRPr lang="en-GB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15068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7160-5D7A-3C73-078B-FDE56805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09833" y="161018"/>
            <a:ext cx="10651121" cy="758537"/>
          </a:xfrm>
        </p:spPr>
        <p:txBody>
          <a:bodyPr>
            <a:normAutofit/>
          </a:bodyPr>
          <a:lstStyle/>
          <a:p>
            <a:r>
              <a:rPr lang="en-GB" sz="3600" dirty="0"/>
              <a:t>Visual Insight: Charges &amp; Value Perception</a:t>
            </a:r>
            <a:endParaRPr lang="en-ZA" sz="3600" dirty="0"/>
          </a:p>
        </p:txBody>
      </p:sp>
      <p:pic>
        <p:nvPicPr>
          <p:cNvPr id="4" name="Content Placeholder 3" descr="A graph of numbers and a bar&#10;&#10;AI-generated content may be incorrect.">
            <a:extLst>
              <a:ext uri="{FF2B5EF4-FFF2-40B4-BE49-F238E27FC236}">
                <a16:creationId xmlns:a16="http://schemas.microsoft.com/office/drawing/2014/main" id="{34709D33-CCA7-5B7E-7706-433504862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213" r="-555"/>
          <a:stretch>
            <a:fillRect/>
          </a:stretch>
        </p:blipFill>
        <p:spPr bwMode="auto">
          <a:xfrm>
            <a:off x="695187" y="1538261"/>
            <a:ext cx="2878894" cy="1763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6BD8353E-B32B-E8D1-00EB-2C2725302C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04"/>
          <a:stretch>
            <a:fillRect/>
          </a:stretch>
        </p:blipFill>
        <p:spPr bwMode="auto">
          <a:xfrm>
            <a:off x="4723697" y="1538261"/>
            <a:ext cx="2765425" cy="1763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97C30257-D1C9-9D00-4B02-2EC25B3CF5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153" r="2137"/>
          <a:stretch>
            <a:fillRect/>
          </a:stretch>
        </p:blipFill>
        <p:spPr bwMode="auto">
          <a:xfrm>
            <a:off x="8546827" y="1538261"/>
            <a:ext cx="2788920" cy="1763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CAD4AFB3-52B2-B62D-CD42-4246C4B37E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143" r="2515"/>
          <a:stretch>
            <a:fillRect/>
          </a:stretch>
        </p:blipFill>
        <p:spPr bwMode="auto">
          <a:xfrm>
            <a:off x="724716" y="4378643"/>
            <a:ext cx="2947035" cy="1763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74707-14EA-0CFE-3AA7-0E7995937924}"/>
              </a:ext>
            </a:extLst>
          </p:cNvPr>
          <p:cNvSpPr txBox="1"/>
          <p:nvPr/>
        </p:nvSpPr>
        <p:spPr>
          <a:xfrm>
            <a:off x="627047" y="1090031"/>
            <a:ext cx="2947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Churn by Daily Charges</a:t>
            </a:r>
            <a:endParaRPr lang="en-ZA" b="1" dirty="0"/>
          </a:p>
          <a:p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9682E-E8D5-91B7-C11F-CE1A0BBB201E}"/>
              </a:ext>
            </a:extLst>
          </p:cNvPr>
          <p:cNvSpPr txBox="1"/>
          <p:nvPr/>
        </p:nvSpPr>
        <p:spPr>
          <a:xfrm>
            <a:off x="4533249" y="1086143"/>
            <a:ext cx="3146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Churn by Evening Charges</a:t>
            </a:r>
            <a:endParaRPr lang="en-ZA" b="1" dirty="0"/>
          </a:p>
          <a:p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E332D2-45A3-BBBC-CF89-33D940E1C618}"/>
              </a:ext>
            </a:extLst>
          </p:cNvPr>
          <p:cNvSpPr txBox="1"/>
          <p:nvPr/>
        </p:nvSpPr>
        <p:spPr>
          <a:xfrm>
            <a:off x="8688102" y="1086143"/>
            <a:ext cx="306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Churn by Night Charges</a:t>
            </a:r>
            <a:endParaRPr lang="en-ZA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E1EDB-E65C-B91A-A922-E2F7F2B67321}"/>
              </a:ext>
            </a:extLst>
          </p:cNvPr>
          <p:cNvSpPr txBox="1"/>
          <p:nvPr/>
        </p:nvSpPr>
        <p:spPr>
          <a:xfrm>
            <a:off x="635142" y="3920363"/>
            <a:ext cx="381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Churn by International Charges</a:t>
            </a:r>
            <a:endParaRPr lang="en-ZA" b="1" dirty="0"/>
          </a:p>
          <a:p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889A0-FAF9-15E2-C35E-180D3B18B2D0}"/>
              </a:ext>
            </a:extLst>
          </p:cNvPr>
          <p:cNvSpPr txBox="1"/>
          <p:nvPr/>
        </p:nvSpPr>
        <p:spPr>
          <a:xfrm>
            <a:off x="5331885" y="4165577"/>
            <a:ext cx="671243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Executive Interpretation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Customers with </a:t>
            </a:r>
            <a:r>
              <a:rPr lang="en-GB" sz="2000" b="1" dirty="0"/>
              <a:t>higher charges are less likely to churn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Low charges indicate </a:t>
            </a:r>
            <a:r>
              <a:rPr lang="en-GB" sz="2000" b="1" dirty="0"/>
              <a:t>weak product value perception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r>
              <a:rPr lang="en-GB" sz="2000" b="1" dirty="0"/>
              <a:t>Why This Matters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Churn is not driven by price pressure alone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It is driven by </a:t>
            </a:r>
            <a:r>
              <a:rPr lang="en-GB" sz="2000" b="1" dirty="0"/>
              <a:t>lack of perceived value</a:t>
            </a:r>
            <a:endParaRPr lang="en-GB" sz="2000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3340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BCE5-4F2A-2F77-8D0A-CC613AD0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1268" y="501650"/>
            <a:ext cx="10515600" cy="827036"/>
          </a:xfrm>
        </p:spPr>
        <p:txBody>
          <a:bodyPr>
            <a:normAutofit fontScale="90000"/>
          </a:bodyPr>
          <a:lstStyle/>
          <a:p>
            <a:r>
              <a:rPr lang="en-GB" dirty="0"/>
              <a:t>Churn Risk KPI Profile (Executive Summary)</a:t>
            </a:r>
            <a:br>
              <a:rPr lang="en-ZA" dirty="0"/>
            </a:b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77638B-96F4-3793-46C6-CD43EF94A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101706"/>
              </p:ext>
            </p:extLst>
          </p:nvPr>
        </p:nvGraphicFramePr>
        <p:xfrm>
          <a:off x="7242687" y="2090703"/>
          <a:ext cx="4376057" cy="4265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181">
                  <a:extLst>
                    <a:ext uri="{9D8B030D-6E8A-4147-A177-3AD203B41FA5}">
                      <a16:colId xmlns:a16="http://schemas.microsoft.com/office/drawing/2014/main" val="220374264"/>
                    </a:ext>
                  </a:extLst>
                </a:gridCol>
                <a:gridCol w="1346876">
                  <a:extLst>
                    <a:ext uri="{9D8B030D-6E8A-4147-A177-3AD203B41FA5}">
                      <a16:colId xmlns:a16="http://schemas.microsoft.com/office/drawing/2014/main" val="2287069161"/>
                    </a:ext>
                  </a:extLst>
                </a:gridCol>
              </a:tblGrid>
              <a:tr h="717144">
                <a:tc>
                  <a:txBody>
                    <a:bodyPr/>
                    <a:lstStyle/>
                    <a:p>
                      <a:r>
                        <a:rPr lang="en-ZA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Average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450937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Minutes per 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180.3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344694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Minutes per Evening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200.2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790565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Minutes per Night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200.5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67243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Calls per 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99.9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453192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International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10.3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980213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Daily Charges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30.6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06927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Evening Charges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17.0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63390"/>
                  </a:ext>
                </a:extLst>
              </a:tr>
              <a:tr h="415489">
                <a:tc>
                  <a:txBody>
                    <a:bodyPr/>
                    <a:lstStyle/>
                    <a:p>
                      <a:r>
                        <a:rPr lang="en-ZA" dirty="0"/>
                        <a:t>Average Night Charges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9.0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629040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CC2ABE3-E4EE-AC79-8F1D-0C75E541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3256" y="5655921"/>
            <a:ext cx="5014452" cy="365125"/>
          </a:xfrm>
        </p:spPr>
        <p:txBody>
          <a:bodyPr/>
          <a:lstStyle/>
          <a:p>
            <a:r>
              <a:rPr lang="en-GB" sz="1400" b="1" dirty="0"/>
              <a:t>Data Source:</a:t>
            </a:r>
            <a:r>
              <a:rPr lang="en-GB" sz="1400" dirty="0"/>
              <a:t> Customer usage, billing, and engagement data</a:t>
            </a:r>
            <a:br>
              <a:rPr lang="en-GB" sz="1400" dirty="0"/>
            </a:br>
            <a:r>
              <a:rPr lang="en-GB" sz="1400" b="1" dirty="0"/>
              <a:t>Note:</a:t>
            </a:r>
            <a:r>
              <a:rPr lang="en-GB" sz="1400" dirty="0"/>
              <a:t> KPIs represent averages across the customer base</a:t>
            </a:r>
            <a:endParaRPr lang="en-ZA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77A5D-3D4C-8472-8EF9-9BF6DF891110}"/>
              </a:ext>
            </a:extLst>
          </p:cNvPr>
          <p:cNvSpPr txBox="1"/>
          <p:nvPr/>
        </p:nvSpPr>
        <p:spPr>
          <a:xfrm>
            <a:off x="7154116" y="1629038"/>
            <a:ext cx="472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/>
              <a:t>Customer Usage &amp; Value KPIs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06F18-001A-D063-30E7-7B149F8555E1}"/>
              </a:ext>
            </a:extLst>
          </p:cNvPr>
          <p:cNvSpPr txBox="1"/>
          <p:nvPr/>
        </p:nvSpPr>
        <p:spPr>
          <a:xfrm>
            <a:off x="573256" y="1108158"/>
            <a:ext cx="5709557" cy="42780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b="1" dirty="0"/>
              <a:t>EXECUTIVE INTERPRETATION (This Is the Value)</a:t>
            </a:r>
          </a:p>
          <a:p>
            <a:endParaRPr lang="en-GB" b="1" dirty="0"/>
          </a:p>
          <a:p>
            <a:r>
              <a:rPr lang="en-GB" b="1" dirty="0"/>
              <a:t>What Defines a Churn-Risk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Churned customers show </a:t>
            </a:r>
            <a:r>
              <a:rPr lang="en-GB" b="1" dirty="0"/>
              <a:t>consistently lower usage across all time periods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Lower usage translates directly into </a:t>
            </a:r>
            <a:r>
              <a:rPr lang="en-GB" b="1" dirty="0"/>
              <a:t>lower revenue contribution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Churn risk is linked to </a:t>
            </a:r>
            <a:r>
              <a:rPr lang="en-GB" b="1" dirty="0"/>
              <a:t>low engagement and weak value perception</a:t>
            </a:r>
            <a:r>
              <a:rPr lang="en-GB" dirty="0"/>
              <a:t>, not excessive cost</a:t>
            </a:r>
          </a:p>
          <a:p>
            <a:endParaRPr lang="en-GB" b="1" dirty="0"/>
          </a:p>
          <a:p>
            <a:r>
              <a:rPr lang="en-GB" b="1" dirty="0"/>
              <a:t>Business Interpretation</a:t>
            </a:r>
          </a:p>
          <a:p>
            <a:r>
              <a:rPr lang="en-GB" dirty="0"/>
              <a:t>Customers disengage </a:t>
            </a:r>
            <a:r>
              <a:rPr lang="en-GB" b="1" dirty="0"/>
              <a:t>before</a:t>
            </a:r>
            <a:r>
              <a:rPr lang="en-GB" dirty="0"/>
              <a:t> they churn.</a:t>
            </a:r>
            <a:br>
              <a:rPr lang="en-GB" dirty="0"/>
            </a:br>
            <a:r>
              <a:rPr lang="en-GB" dirty="0"/>
              <a:t>Declining usage is an </a:t>
            </a:r>
            <a:r>
              <a:rPr lang="en-GB" b="1" dirty="0"/>
              <a:t>early and measurable warning signal</a:t>
            </a:r>
            <a:r>
              <a:rPr lang="en-GB" dirty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5846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5283-7580-1D6D-A7A6-3F4D53C6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301" y="654627"/>
            <a:ext cx="7794771" cy="1752599"/>
          </a:xfrm>
        </p:spPr>
        <p:txBody>
          <a:bodyPr/>
          <a:lstStyle/>
          <a:p>
            <a:r>
              <a:rPr lang="en-GB" dirty="0"/>
              <a:t>Recommendations (What the Business Should Do)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4B98F-8A55-8C03-BD0F-7B38B074D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838" y="3093026"/>
            <a:ext cx="8937772" cy="2590801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6400" b="1" dirty="0"/>
              <a:t>Early-Warning Churn Monitoring</a:t>
            </a:r>
          </a:p>
          <a:p>
            <a:pPr lvl="1"/>
            <a:r>
              <a:rPr lang="en-GB" sz="6400" dirty="0"/>
              <a:t>Track </a:t>
            </a:r>
            <a:r>
              <a:rPr lang="en-GB" sz="6400" b="1" dirty="0"/>
              <a:t>usage drops</a:t>
            </a:r>
            <a:r>
              <a:rPr lang="en-GB" sz="6400" dirty="0"/>
              <a:t> as the primary churn signal</a:t>
            </a:r>
          </a:p>
          <a:p>
            <a:pPr lvl="1"/>
            <a:r>
              <a:rPr lang="en-GB" sz="6400" dirty="0"/>
              <a:t>Flag customers whose usage declines over consecutive periods</a:t>
            </a:r>
          </a:p>
          <a:p>
            <a:pPr marL="0" indent="0">
              <a:buNone/>
            </a:pPr>
            <a:endParaRPr lang="en-GB" sz="6400" dirty="0"/>
          </a:p>
          <a:p>
            <a:pPr marL="514350" indent="-514350">
              <a:buFont typeface="+mj-lt"/>
              <a:buAutoNum type="arabicPeriod" startAt="2"/>
            </a:pPr>
            <a:r>
              <a:rPr lang="en-GB" sz="6400" b="1" dirty="0"/>
              <a:t>Proactive Retention Campaigns</a:t>
            </a:r>
          </a:p>
          <a:p>
            <a:pPr lvl="1"/>
            <a:r>
              <a:rPr lang="en-GB" sz="6400" dirty="0"/>
              <a:t>Target </a:t>
            </a:r>
            <a:r>
              <a:rPr lang="en-GB" sz="6400" b="1" dirty="0"/>
              <a:t>low-usage, low-charge customers</a:t>
            </a:r>
            <a:r>
              <a:rPr lang="en-GB" sz="6400" dirty="0"/>
              <a:t> early</a:t>
            </a:r>
          </a:p>
          <a:p>
            <a:pPr lvl="1"/>
            <a:r>
              <a:rPr lang="en-GB" sz="6400" dirty="0"/>
              <a:t>Introduce usage-based incentives or engagement nudges</a:t>
            </a:r>
          </a:p>
          <a:p>
            <a:pPr marL="0" indent="0">
              <a:buNone/>
            </a:pPr>
            <a:endParaRPr lang="en-GB" sz="6400" dirty="0"/>
          </a:p>
          <a:p>
            <a:pPr marL="514350" indent="-514350">
              <a:buFont typeface="+mj-lt"/>
              <a:buAutoNum type="arabicPeriod" startAt="3"/>
            </a:pPr>
            <a:r>
              <a:rPr lang="en-GB" sz="6400" b="1" dirty="0"/>
              <a:t>Increase Feature Adoption</a:t>
            </a:r>
          </a:p>
          <a:p>
            <a:pPr lvl="1"/>
            <a:r>
              <a:rPr lang="en-GB" sz="6400" dirty="0"/>
              <a:t>Encourage international usage and service add-ons</a:t>
            </a:r>
          </a:p>
          <a:p>
            <a:pPr lvl="1"/>
            <a:r>
              <a:rPr lang="en-GB" sz="6400" dirty="0"/>
              <a:t>Use onboarding and education to deepen engagement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2218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D525-B1B8-2048-0856-ADFA1703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248" y="1039091"/>
            <a:ext cx="8189625" cy="1752599"/>
          </a:xfrm>
        </p:spPr>
        <p:txBody>
          <a:bodyPr/>
          <a:lstStyle/>
          <a:p>
            <a:r>
              <a:rPr lang="en-GB" dirty="0"/>
              <a:t>Expected Business Impact (Why This Matters Financially)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F30D5-6F5D-FF09-81C5-2BC0195CB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9018" y="2925473"/>
            <a:ext cx="10515600" cy="39325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000" b="1" dirty="0"/>
              <a:t>Projected Impact</a:t>
            </a:r>
          </a:p>
          <a:p>
            <a:pPr lvl="1"/>
            <a:r>
              <a:rPr lang="en-GB" b="1" dirty="0"/>
              <a:t>5–10% reduction in churn</a:t>
            </a:r>
            <a:r>
              <a:rPr lang="en-GB" dirty="0"/>
              <a:t> through early intervention</a:t>
            </a:r>
          </a:p>
          <a:p>
            <a:pPr lvl="1"/>
            <a:r>
              <a:rPr lang="en-GB" dirty="0"/>
              <a:t>Improved </a:t>
            </a:r>
            <a:r>
              <a:rPr lang="en-GB" b="1" dirty="0"/>
              <a:t>customer lifetime value</a:t>
            </a:r>
            <a:endParaRPr lang="en-GB" dirty="0"/>
          </a:p>
          <a:p>
            <a:pPr lvl="1"/>
            <a:r>
              <a:rPr lang="en-GB" dirty="0"/>
              <a:t>Lower cost of retention compared to customer acquisition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Strategic Value</a:t>
            </a:r>
          </a:p>
          <a:p>
            <a:pPr lvl="1"/>
            <a:r>
              <a:rPr lang="en-GB" dirty="0"/>
              <a:t>Enables </a:t>
            </a:r>
            <a:r>
              <a:rPr lang="en-GB" b="1" dirty="0"/>
              <a:t>data-driven retention strategy</a:t>
            </a:r>
            <a:endParaRPr lang="en-GB" dirty="0"/>
          </a:p>
          <a:p>
            <a:pPr lvl="1"/>
            <a:r>
              <a:rPr lang="en-GB" dirty="0"/>
              <a:t>Improves revenue predictability</a:t>
            </a:r>
          </a:p>
          <a:p>
            <a:pPr lvl="1"/>
            <a:r>
              <a:rPr lang="en-GB" dirty="0"/>
              <a:t>Aligns analytics directly with business outcomes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86253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286</TotalTime>
  <Words>531</Words>
  <Application>Microsoft Office PowerPoint</Application>
  <PresentationFormat>Widescreen</PresentationFormat>
  <Paragraphs>100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Corbel</vt:lpstr>
      <vt:lpstr>Parallax</vt:lpstr>
      <vt:lpstr> Customer Churn Analysis</vt:lpstr>
      <vt:lpstr>Business Objective</vt:lpstr>
      <vt:lpstr>Key Insights (What the Data Revealed)</vt:lpstr>
      <vt:lpstr>Visual Insight: Usage vs Churn</vt:lpstr>
      <vt:lpstr>Visual Insight: Charges &amp; Value Perception</vt:lpstr>
      <vt:lpstr>Churn Risk KPI Profile (Executive Summary) </vt:lpstr>
      <vt:lpstr>Recommendations (What the Business Should Do)</vt:lpstr>
      <vt:lpstr>Expected Business Impact (Why This Matters Financially)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Llinvile De Jongh</dc:creator>
  <cp:lastModifiedBy>Llinvile De Jongh</cp:lastModifiedBy>
  <cp:revision>1</cp:revision>
  <dcterms:created xsi:type="dcterms:W3CDTF">2025-12-18T17:06:07Z</dcterms:created>
  <dcterms:modified xsi:type="dcterms:W3CDTF">2026-02-24T16:54:50Z</dcterms:modified>
</cp:coreProperties>
</file>